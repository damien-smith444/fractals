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0" r:id="rId2"/>
    <p:sldId id="27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341E704D-6BD2-4F0C-85E9-72113A05232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DB7F66F-22CF-4984-925F-85B091AED174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11" y="116632"/>
            <a:ext cx="8640960" cy="3816424"/>
          </a:xfrm>
        </p:spPr>
        <p:txBody>
          <a:bodyPr>
            <a:normAutofit/>
          </a:bodyPr>
          <a:lstStyle/>
          <a:p>
            <a:pPr algn="ctr"/>
            <a:r>
              <a:rPr lang="en-GB" sz="2400" dirty="0" smtClean="0"/>
              <a:t>           </a:t>
            </a:r>
            <a:r>
              <a:rPr lang="en-GB" sz="2400" dirty="0" err="1" smtClean="0"/>
              <a:t>Motilal</a:t>
            </a:r>
            <a:r>
              <a:rPr lang="en-GB" sz="2400" dirty="0" smtClean="0"/>
              <a:t> </a:t>
            </a:r>
            <a:r>
              <a:rPr lang="en-GB" sz="2400" dirty="0"/>
              <a:t>Nehru National </a:t>
            </a:r>
            <a:r>
              <a:rPr lang="en-GB" sz="2400" dirty="0" smtClean="0"/>
              <a:t>Institu</a:t>
            </a:r>
            <a:r>
              <a:rPr lang="en-GB" sz="2400" dirty="0"/>
              <a:t>t</a:t>
            </a:r>
            <a:r>
              <a:rPr lang="en-GB" sz="2400" dirty="0" smtClean="0"/>
              <a:t>e </a:t>
            </a:r>
            <a:r>
              <a:rPr lang="en-GB" sz="2400" dirty="0"/>
              <a:t>of Technology, </a:t>
            </a:r>
            <a:r>
              <a:rPr lang="en-GB" sz="2400" dirty="0" smtClean="0"/>
              <a:t>Allahabad</a:t>
            </a:r>
            <a:br>
              <a:rPr lang="en-GB" sz="2400" dirty="0" smtClean="0"/>
            </a:br>
            <a:r>
              <a:rPr lang="en-GB" sz="2400" dirty="0"/>
              <a:t/>
            </a:r>
            <a:br>
              <a:rPr lang="en-GB" sz="2400" dirty="0"/>
            </a:br>
            <a:r>
              <a:rPr lang="en-GB" sz="2400" dirty="0" smtClean="0"/>
              <a:t>Project on</a:t>
            </a:r>
            <a:br>
              <a:rPr lang="en-GB" sz="2400" dirty="0" smtClean="0"/>
            </a:br>
            <a:r>
              <a:rPr lang="en-GB" b="1" dirty="0" smtClean="0">
                <a:latin typeface="Algerian" pitchFamily="82" charset="0"/>
              </a:rPr>
              <a:t>FRACTALS</a:t>
            </a:r>
            <a:r>
              <a:rPr lang="en-GB" sz="2400" dirty="0"/>
              <a:t/>
            </a:r>
            <a:br>
              <a:rPr lang="en-GB" sz="2400" dirty="0"/>
            </a:br>
            <a:r>
              <a:rPr lang="en-GB" sz="2400" dirty="0"/>
              <a:t/>
            </a:r>
            <a:br>
              <a:rPr lang="en-GB" sz="2400" dirty="0"/>
            </a:br>
            <a:r>
              <a:rPr lang="en-IN" sz="2400" b="1" dirty="0"/>
              <a:t>Course:</a:t>
            </a:r>
            <a:r>
              <a:rPr lang="en-IN" sz="2400" dirty="0"/>
              <a:t> MCA I Semester – </a:t>
            </a:r>
            <a:r>
              <a:rPr lang="en-IN" sz="2400" i="1" dirty="0"/>
              <a:t>Programming and Problem Solving</a:t>
            </a:r>
            <a:r>
              <a:rPr lang="en-GB" sz="2400" dirty="0" smtClean="0"/>
              <a:t/>
            </a:r>
            <a:br>
              <a:rPr lang="en-GB" sz="2400" dirty="0" smtClean="0"/>
            </a:br>
            <a:endParaRPr lang="en-IN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3861048"/>
            <a:ext cx="8496944" cy="201622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Submitted To</a:t>
            </a:r>
            <a:r>
              <a:rPr lang="en-GB" b="1" dirty="0"/>
              <a:t>:</a:t>
            </a:r>
            <a:r>
              <a:rPr lang="en-GB" dirty="0"/>
              <a:t> Prof. M.M. Gore</a:t>
            </a:r>
            <a:br>
              <a:rPr lang="en-GB" dirty="0"/>
            </a:br>
            <a:r>
              <a:rPr lang="en-GB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Team Leader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Dibyendu</a:t>
            </a:r>
            <a:r>
              <a:rPr lang="en-GB" dirty="0"/>
              <a:t> Das (2025CA031</a:t>
            </a:r>
            <a:r>
              <a:rPr lang="en-GB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Course</a:t>
            </a:r>
            <a:r>
              <a:rPr lang="en-IN" b="1" dirty="0"/>
              <a:t>:</a:t>
            </a:r>
            <a:r>
              <a:rPr lang="en-IN" dirty="0"/>
              <a:t> MCA I Semester </a:t>
            </a:r>
            <a:r>
              <a:rPr lang="en-IN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IN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Subject</a:t>
            </a:r>
            <a:r>
              <a:rPr lang="en-IN" b="1" dirty="0" smtClean="0"/>
              <a:t>:</a:t>
            </a:r>
            <a:r>
              <a:rPr lang="en-IN" dirty="0" smtClean="0"/>
              <a:t> </a:t>
            </a:r>
            <a:r>
              <a:rPr lang="en-IN" i="1" dirty="0" smtClean="0"/>
              <a:t>Programming </a:t>
            </a:r>
            <a:r>
              <a:rPr lang="en-IN" i="1" dirty="0"/>
              <a:t>and Problem Solving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993161" cy="1340768"/>
          </a:xfrm>
          <a:prstGeom prst="rect">
            <a:avLst/>
          </a:prstGeom>
          <a:gradFill>
            <a:gsLst>
              <a:gs pos="0">
                <a:schemeClr val="bg1">
                  <a:lumMod val="85000"/>
                  <a:lumOff val="15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</p:pic>
    </p:spTree>
    <p:extLst>
      <p:ext uri="{BB962C8B-B14F-4D97-AF65-F5344CB8AC3E}">
        <p14:creationId xmlns:p14="http://schemas.microsoft.com/office/powerpoint/2010/main" val="204906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332656"/>
            <a:ext cx="7387208" cy="794057"/>
          </a:xfrm>
        </p:spPr>
        <p:txBody>
          <a:bodyPr/>
          <a:lstStyle/>
          <a:p>
            <a:pPr algn="ctr"/>
            <a:r>
              <a:rPr lang="en-IN" dirty="0"/>
              <a:t>Team Members: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556792"/>
            <a:ext cx="7416824" cy="4176464"/>
          </a:xfrm>
        </p:spPr>
        <p:txBody>
          <a:bodyPr>
            <a:normAutofit lnSpcReduction="10000"/>
          </a:bodyPr>
          <a:lstStyle/>
          <a:p>
            <a:r>
              <a:rPr lang="en-IN" dirty="0" err="1"/>
              <a:t>Amit</a:t>
            </a:r>
            <a:r>
              <a:rPr lang="en-IN" dirty="0"/>
              <a:t> </a:t>
            </a:r>
            <a:r>
              <a:rPr lang="en-IN" dirty="0" err="1" smtClean="0"/>
              <a:t>Singhad</a:t>
            </a:r>
            <a:r>
              <a:rPr lang="en-IN" dirty="0" smtClean="0"/>
              <a:t> </a:t>
            </a:r>
          </a:p>
          <a:p>
            <a:r>
              <a:rPr lang="en-IN" dirty="0" err="1" smtClean="0"/>
              <a:t>Divyajeet</a:t>
            </a:r>
            <a:r>
              <a:rPr lang="en-IN" dirty="0" smtClean="0"/>
              <a:t> </a:t>
            </a:r>
          </a:p>
          <a:p>
            <a:r>
              <a:rPr lang="en-IN" dirty="0" err="1" smtClean="0"/>
              <a:t>Jitendra</a:t>
            </a:r>
            <a:r>
              <a:rPr lang="en-IN" dirty="0" smtClean="0"/>
              <a:t> </a:t>
            </a:r>
            <a:r>
              <a:rPr lang="en-IN" dirty="0"/>
              <a:t>Singh </a:t>
            </a:r>
            <a:r>
              <a:rPr lang="en-IN" dirty="0" err="1" smtClean="0"/>
              <a:t>Parmar</a:t>
            </a:r>
            <a:r>
              <a:rPr lang="en-IN" dirty="0" smtClean="0"/>
              <a:t> </a:t>
            </a:r>
          </a:p>
          <a:p>
            <a:r>
              <a:rPr lang="en-IN" dirty="0" err="1" smtClean="0"/>
              <a:t>Mohd</a:t>
            </a:r>
            <a:r>
              <a:rPr lang="en-IN" dirty="0" smtClean="0"/>
              <a:t> </a:t>
            </a:r>
            <a:r>
              <a:rPr lang="en-IN" dirty="0" err="1" smtClean="0"/>
              <a:t>Sufiyan</a:t>
            </a:r>
            <a:endParaRPr lang="en-IN" dirty="0" smtClean="0"/>
          </a:p>
          <a:p>
            <a:r>
              <a:rPr lang="en-IN" dirty="0" err="1" smtClean="0"/>
              <a:t>Piyush</a:t>
            </a:r>
            <a:r>
              <a:rPr lang="en-IN" dirty="0" smtClean="0"/>
              <a:t> </a:t>
            </a:r>
            <a:r>
              <a:rPr lang="en-IN" dirty="0" err="1" smtClean="0"/>
              <a:t>Gautam</a:t>
            </a:r>
            <a:endParaRPr lang="en-IN" dirty="0" smtClean="0"/>
          </a:p>
          <a:p>
            <a:r>
              <a:rPr lang="en-IN" dirty="0" err="1" smtClean="0"/>
              <a:t>Rajdeep</a:t>
            </a:r>
            <a:r>
              <a:rPr lang="en-IN" dirty="0" smtClean="0"/>
              <a:t> Gupta</a:t>
            </a:r>
          </a:p>
          <a:p>
            <a:r>
              <a:rPr lang="en-IN" dirty="0" smtClean="0"/>
              <a:t>Rajeev </a:t>
            </a:r>
            <a:r>
              <a:rPr lang="en-IN" dirty="0" err="1" smtClean="0"/>
              <a:t>Tirkey</a:t>
            </a:r>
            <a:endParaRPr lang="en-IN" dirty="0" smtClean="0"/>
          </a:p>
          <a:p>
            <a:r>
              <a:rPr lang="en-IN" dirty="0" err="1" smtClean="0"/>
              <a:t>Shri</a:t>
            </a:r>
            <a:r>
              <a:rPr lang="en-IN" dirty="0" smtClean="0"/>
              <a:t> </a:t>
            </a:r>
            <a:r>
              <a:rPr lang="en-IN" dirty="0" err="1" smtClean="0"/>
              <a:t>Krishan</a:t>
            </a:r>
            <a:r>
              <a:rPr lang="en-IN" dirty="0" smtClean="0"/>
              <a:t> </a:t>
            </a:r>
          </a:p>
          <a:p>
            <a:r>
              <a:rPr lang="en-IN" dirty="0" err="1" smtClean="0"/>
              <a:t>Smruti</a:t>
            </a:r>
            <a:r>
              <a:rPr lang="en-IN" dirty="0" smtClean="0"/>
              <a:t> </a:t>
            </a:r>
            <a:r>
              <a:rPr lang="en-IN" dirty="0" err="1"/>
              <a:t>Ranjan</a:t>
            </a:r>
            <a:r>
              <a:rPr lang="en-IN" dirty="0"/>
              <a:t> </a:t>
            </a:r>
            <a:r>
              <a:rPr lang="en-IN" dirty="0" err="1" smtClean="0"/>
              <a:t>Behera</a:t>
            </a:r>
            <a:endParaRPr lang="en-IN" dirty="0" smtClean="0"/>
          </a:p>
          <a:p>
            <a:r>
              <a:rPr lang="en-IN" dirty="0" err="1" smtClean="0"/>
              <a:t>Sumit</a:t>
            </a:r>
            <a:r>
              <a:rPr lang="en-IN" dirty="0" smtClean="0"/>
              <a:t> </a:t>
            </a:r>
            <a:r>
              <a:rPr lang="en-IN" dirty="0"/>
              <a:t>Raj </a:t>
            </a:r>
            <a:r>
              <a:rPr lang="en-IN" dirty="0" err="1" smtClean="0"/>
              <a:t>Chaudhary</a:t>
            </a:r>
            <a:endParaRPr lang="en-IN" dirty="0" smtClean="0"/>
          </a:p>
          <a:p>
            <a:r>
              <a:rPr lang="en-IN" dirty="0" err="1" smtClean="0"/>
              <a:t>Dibyendu</a:t>
            </a:r>
            <a:r>
              <a:rPr lang="en-IN" dirty="0" smtClean="0"/>
              <a:t> Das (Leader)</a:t>
            </a:r>
          </a:p>
          <a:p>
            <a:r>
              <a:rPr lang="en-IN" dirty="0"/>
              <a:t>Manish Kumar (Co-Leader)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20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592" y="116632"/>
            <a:ext cx="7315200" cy="1178593"/>
          </a:xfrm>
        </p:spPr>
        <p:txBody>
          <a:bodyPr/>
          <a:lstStyle/>
          <a:p>
            <a:pPr algn="ctr"/>
            <a:r>
              <a:rPr lang="en-IN" dirty="0" smtClean="0"/>
              <a:t>Fractals </a:t>
            </a:r>
            <a:r>
              <a:rPr lang="en-IN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628800"/>
            <a:ext cx="7330008" cy="3672408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IN" dirty="0" smtClean="0"/>
              <a:t>Project</a:t>
            </a:r>
            <a:r>
              <a:rPr lang="en-IN" dirty="0"/>
              <a:t>: </a:t>
            </a:r>
            <a:r>
              <a:rPr lang="en-IN" i="1" dirty="0"/>
              <a:t>Fractal Generation using Mandelbrot </a:t>
            </a:r>
            <a:r>
              <a:rPr lang="en-IN" i="1" dirty="0" smtClean="0"/>
              <a:t>Algorithm</a:t>
            </a:r>
            <a:endParaRPr lang="en-IN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IN" dirty="0" smtClean="0"/>
              <a:t>Purpose</a:t>
            </a:r>
            <a:r>
              <a:rPr lang="en-IN" dirty="0"/>
              <a:t>: Visualize complex mathematical patterns using </a:t>
            </a:r>
            <a:r>
              <a:rPr lang="en-IN" dirty="0" smtClean="0"/>
              <a:t>programming.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dirty="0" smtClean="0"/>
              <a:t>Concept </a:t>
            </a:r>
            <a:r>
              <a:rPr lang="en-IN" dirty="0"/>
              <a:t>based on iterative complex equation:</a:t>
            </a:r>
            <a:br>
              <a:rPr lang="en-IN" dirty="0"/>
            </a:br>
            <a:r>
              <a:rPr lang="en-IN" dirty="0"/>
              <a:t>zn+1=zn2+cz_{n+1} = z_n^2 + czn+1​=zn2​+</a:t>
            </a:r>
            <a:r>
              <a:rPr lang="en-IN" dirty="0" smtClean="0"/>
              <a:t>c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dirty="0" smtClean="0"/>
              <a:t>Tools</a:t>
            </a:r>
            <a:r>
              <a:rPr lang="en-IN" dirty="0"/>
              <a:t>: C programming, </a:t>
            </a:r>
            <a:r>
              <a:rPr lang="en-IN" dirty="0" err="1"/>
              <a:t>complex.h</a:t>
            </a:r>
            <a:r>
              <a:rPr lang="en-IN" dirty="0"/>
              <a:t>, PPM image generation.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29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88640"/>
            <a:ext cx="7315200" cy="92599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28801"/>
            <a:ext cx="8330347" cy="3672408"/>
          </a:xfrm>
        </p:spPr>
        <p:txBody>
          <a:bodyPr/>
          <a:lstStyle/>
          <a:p>
            <a:pPr marL="4572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Problem Statement: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To generate fractal images using iterative equations over the complex plane.</a:t>
            </a:r>
          </a:p>
          <a:p>
            <a:pPr marL="45720" indent="0">
              <a:buNone/>
            </a:pPr>
            <a:endParaRPr lang="en-IN" b="1" dirty="0" smtClean="0"/>
          </a:p>
          <a:p>
            <a:pPr marL="45720" indent="0">
              <a:buNone/>
            </a:pPr>
            <a:r>
              <a:rPr lang="en-IN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Objectives</a:t>
            </a: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IN" dirty="0"/>
              <a:t>Implement fractal generation using C.</a:t>
            </a:r>
          </a:p>
          <a:p>
            <a:r>
              <a:rPr lang="en-IN" dirty="0"/>
              <a:t>Understand iterative mathematical concepts.</a:t>
            </a:r>
          </a:p>
          <a:p>
            <a:r>
              <a:rPr lang="en-IN" dirty="0"/>
              <a:t>Visualize results in PPM format.</a:t>
            </a:r>
          </a:p>
          <a:p>
            <a:r>
              <a:rPr lang="en-IN" dirty="0"/>
              <a:t>Explore Mandelbrot and related 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4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7315200" cy="1154097"/>
          </a:xfrm>
        </p:spPr>
        <p:txBody>
          <a:bodyPr/>
          <a:lstStyle/>
          <a:p>
            <a:pPr algn="ctr"/>
            <a:r>
              <a:rPr lang="en-IN" dirty="0"/>
              <a:t>Mathematical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700809"/>
            <a:ext cx="7488832" cy="3456383"/>
          </a:xfrm>
        </p:spPr>
        <p:txBody>
          <a:bodyPr/>
          <a:lstStyle/>
          <a:p>
            <a:r>
              <a:rPr lang="en-IN" dirty="0"/>
              <a:t>Equation used:</a:t>
            </a:r>
            <a:br>
              <a:rPr lang="en-IN" dirty="0"/>
            </a:br>
            <a:r>
              <a:rPr lang="en-IN" dirty="0"/>
              <a:t>zn+1=zn2+cz_{n+1} = z_n^2 + czn+1​=zn2​+c</a:t>
            </a:r>
          </a:p>
          <a:p>
            <a:r>
              <a:rPr lang="en-IN" dirty="0"/>
              <a:t>A point </a:t>
            </a:r>
            <a:r>
              <a:rPr lang="en-IN" i="1" dirty="0"/>
              <a:t>c</a:t>
            </a:r>
            <a:r>
              <a:rPr lang="en-IN" dirty="0"/>
              <a:t> belongs to the Mandelbrot set if:</a:t>
            </a:r>
            <a:br>
              <a:rPr lang="en-IN" dirty="0"/>
            </a:br>
            <a:r>
              <a:rPr lang="en-IN" dirty="0" err="1"/>
              <a:t>lim⁡n</a:t>
            </a:r>
            <a:r>
              <a:rPr lang="en-IN" dirty="0"/>
              <a:t>→∞∣</a:t>
            </a:r>
            <a:r>
              <a:rPr lang="en-IN" dirty="0" err="1"/>
              <a:t>zn</a:t>
            </a:r>
            <a:r>
              <a:rPr lang="en-IN" dirty="0"/>
              <a:t>∣&lt;∞\</a:t>
            </a:r>
            <a:r>
              <a:rPr lang="en-IN" dirty="0" err="1"/>
              <a:t>lim</a:t>
            </a:r>
            <a:r>
              <a:rPr lang="en-IN" dirty="0"/>
              <a:t>_{n \to \</a:t>
            </a:r>
            <a:r>
              <a:rPr lang="en-IN" dirty="0" err="1"/>
              <a:t>infty</a:t>
            </a:r>
            <a:r>
              <a:rPr lang="en-IN" dirty="0"/>
              <a:t>} |</a:t>
            </a:r>
            <a:r>
              <a:rPr lang="en-IN" dirty="0" err="1"/>
              <a:t>z_n</a:t>
            </a:r>
            <a:r>
              <a:rPr lang="en-IN" dirty="0"/>
              <a:t>| &lt; \</a:t>
            </a:r>
            <a:r>
              <a:rPr lang="en-IN" dirty="0" err="1"/>
              <a:t>inftylimn</a:t>
            </a:r>
            <a:r>
              <a:rPr lang="en-IN" dirty="0"/>
              <a:t>→∞​∣</a:t>
            </a:r>
            <a:r>
              <a:rPr lang="en-IN" dirty="0" err="1"/>
              <a:t>zn</a:t>
            </a:r>
            <a:r>
              <a:rPr lang="en-IN" dirty="0"/>
              <a:t>​∣&lt;∞</a:t>
            </a:r>
          </a:p>
          <a:p>
            <a:r>
              <a:rPr lang="en-IN" dirty="0"/>
              <a:t>Iteration stops when |z| &gt; 2 or when maximum iterations reached.</a:t>
            </a:r>
          </a:p>
          <a:p>
            <a:r>
              <a:rPr lang="en-IN" dirty="0"/>
              <a:t>Based on chaos and complex arithmetic.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39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332656"/>
            <a:ext cx="7243192" cy="866065"/>
          </a:xfrm>
        </p:spPr>
        <p:txBody>
          <a:bodyPr/>
          <a:lstStyle/>
          <a:p>
            <a:pPr algn="ctr"/>
            <a:r>
              <a:rPr lang="en-IN" dirty="0"/>
              <a:t>Software &amp;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916833"/>
            <a:ext cx="7560840" cy="2880320"/>
          </a:xfrm>
        </p:spPr>
        <p:txBody>
          <a:bodyPr/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Language</a:t>
            </a:r>
            <a:r>
              <a:rPr lang="en-IN" b="1" dirty="0"/>
              <a:t>:</a:t>
            </a:r>
            <a:r>
              <a:rPr lang="en-IN" dirty="0"/>
              <a:t> C</a:t>
            </a:r>
          </a:p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Compiler</a:t>
            </a:r>
            <a:r>
              <a:rPr lang="en-IN" b="1" dirty="0"/>
              <a:t>:</a:t>
            </a:r>
            <a:r>
              <a:rPr lang="en-IN" dirty="0"/>
              <a:t> GCC</a:t>
            </a:r>
          </a:p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Library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 err="1"/>
              <a:t>complex.h</a:t>
            </a:r>
            <a:r>
              <a:rPr lang="en-IN" dirty="0"/>
              <a:t> (for handling complex numbers)</a:t>
            </a:r>
          </a:p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Output</a:t>
            </a:r>
            <a:r>
              <a:rPr lang="en-IN" b="1" dirty="0"/>
              <a:t>:</a:t>
            </a:r>
            <a:r>
              <a:rPr lang="en-IN" dirty="0"/>
              <a:t> PPM image file</a:t>
            </a:r>
          </a:p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Platform</a:t>
            </a:r>
            <a:r>
              <a:rPr lang="en-IN" b="1" dirty="0"/>
              <a:t>:</a:t>
            </a:r>
            <a:r>
              <a:rPr lang="en-IN" dirty="0"/>
              <a:t> Ubuntu (WSL)</a:t>
            </a:r>
          </a:p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Text Editor</a:t>
            </a:r>
            <a:r>
              <a:rPr lang="en-IN" b="1" dirty="0"/>
              <a:t>:</a:t>
            </a:r>
            <a:r>
              <a:rPr lang="en-IN" dirty="0"/>
              <a:t> VS Code / Nano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098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188640"/>
            <a:ext cx="7315200" cy="1010081"/>
          </a:xfrm>
        </p:spPr>
        <p:txBody>
          <a:bodyPr/>
          <a:lstStyle/>
          <a:p>
            <a:pPr algn="ctr"/>
            <a:r>
              <a:rPr lang="en-IN" dirty="0"/>
              <a:t>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700808"/>
            <a:ext cx="7488832" cy="4032448"/>
          </a:xfrm>
        </p:spPr>
        <p:txBody>
          <a:bodyPr/>
          <a:lstStyle/>
          <a:p>
            <a:pPr marL="4572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Algorithm Steps: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IN" dirty="0"/>
              <a:t>Initialize parameters — width, height, max iterations.</a:t>
            </a:r>
          </a:p>
          <a:p>
            <a:r>
              <a:rPr lang="en-IN" dirty="0"/>
              <a:t>Loop over each pixel on the screen.</a:t>
            </a:r>
          </a:p>
          <a:p>
            <a:r>
              <a:rPr lang="en-IN" dirty="0"/>
              <a:t>Map pixel to complex coordinate (x + </a:t>
            </a:r>
            <a:r>
              <a:rPr lang="en-IN" dirty="0" err="1"/>
              <a:t>yi</a:t>
            </a:r>
            <a:r>
              <a:rPr lang="en-IN" dirty="0"/>
              <a:t>).</a:t>
            </a:r>
          </a:p>
          <a:p>
            <a:r>
              <a:rPr lang="en-IN" dirty="0"/>
              <a:t>Apply iteration: z = z² + c.</a:t>
            </a:r>
          </a:p>
          <a:p>
            <a:r>
              <a:rPr lang="en-IN" dirty="0"/>
              <a:t>Assign </a:t>
            </a:r>
            <a:r>
              <a:rPr lang="en-IN" dirty="0" err="1"/>
              <a:t>color</a:t>
            </a:r>
            <a:r>
              <a:rPr lang="en-IN" dirty="0"/>
              <a:t> based on number of iterations before divergence.</a:t>
            </a:r>
          </a:p>
          <a:p>
            <a:r>
              <a:rPr lang="en-IN" dirty="0"/>
              <a:t>Save pixel data to file.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6058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332656"/>
            <a:ext cx="7315200" cy="92599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Implementation (Code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700809"/>
            <a:ext cx="7315200" cy="2592288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Core function: </a:t>
            </a:r>
            <a:r>
              <a:rPr lang="en-IN" dirty="0" err="1"/>
              <a:t>mandelbrot</a:t>
            </a:r>
            <a:r>
              <a:rPr lang="en-IN" dirty="0"/>
              <a:t>(double complex c)</a:t>
            </a:r>
          </a:p>
          <a:p>
            <a:r>
              <a:rPr lang="en-IN" dirty="0"/>
              <a:t>Iteration stops when cabs(z) &gt; 2 or n &gt;= MAX_ITER.</a:t>
            </a: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Output: </a:t>
            </a:r>
            <a:r>
              <a:rPr lang="en-IN" dirty="0"/>
              <a:t>RGB </a:t>
            </a:r>
            <a:r>
              <a:rPr lang="en-IN" dirty="0" err="1"/>
              <a:t>color</a:t>
            </a:r>
            <a:r>
              <a:rPr lang="en-IN" dirty="0"/>
              <a:t> values mapped by iteration count.</a:t>
            </a:r>
          </a:p>
          <a:p>
            <a:r>
              <a:rPr lang="en-IN" dirty="0"/>
              <a:t>Uses nested loops for pixel traversal.</a:t>
            </a:r>
          </a:p>
          <a:p>
            <a:r>
              <a:rPr lang="en-IN" dirty="0"/>
              <a:t>Writes image data to “</a:t>
            </a:r>
            <a:r>
              <a:rPr lang="en-IN" dirty="0" err="1"/>
              <a:t>mandelbrot.ppm</a:t>
            </a:r>
            <a:r>
              <a:rPr lang="en-IN" dirty="0"/>
              <a:t>”.</a:t>
            </a:r>
          </a:p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5138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332656"/>
            <a:ext cx="7315200" cy="938073"/>
          </a:xfrm>
        </p:spPr>
        <p:txBody>
          <a:bodyPr/>
          <a:lstStyle/>
          <a:p>
            <a:pPr algn="ctr"/>
            <a:r>
              <a:rPr lang="en-IN" dirty="0"/>
              <a:t>Visualization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700808"/>
            <a:ext cx="7315200" cy="3539527"/>
          </a:xfrm>
        </p:spPr>
        <p:txBody>
          <a:bodyPr/>
          <a:lstStyle/>
          <a:p>
            <a:r>
              <a:rPr lang="en-GB" dirty="0"/>
              <a:t>Complex Plane Range:</a:t>
            </a:r>
          </a:p>
          <a:p>
            <a:pPr lvl="1"/>
            <a:r>
              <a:rPr lang="en-GB" dirty="0"/>
              <a:t>x: [-2.0, 1.0]</a:t>
            </a:r>
          </a:p>
          <a:p>
            <a:pPr lvl="1"/>
            <a:r>
              <a:rPr lang="en-GB" dirty="0"/>
              <a:t>y: [-1.5, 1.5]</a:t>
            </a:r>
          </a:p>
          <a:p>
            <a:r>
              <a:rPr lang="en-GB" dirty="0" err="1"/>
              <a:t>Color</a:t>
            </a:r>
            <a:r>
              <a:rPr lang="en-GB" dirty="0"/>
              <a:t> Mapping:</a:t>
            </a:r>
          </a:p>
          <a:p>
            <a:pPr lvl="1"/>
            <a:r>
              <a:rPr lang="en-GB" dirty="0"/>
              <a:t>R = </a:t>
            </a:r>
            <a:r>
              <a:rPr lang="en-GB" dirty="0" err="1"/>
              <a:t>iter</a:t>
            </a:r>
            <a:r>
              <a:rPr lang="en-GB" dirty="0"/>
              <a:t> % 256</a:t>
            </a:r>
          </a:p>
          <a:p>
            <a:pPr lvl="1"/>
            <a:r>
              <a:rPr lang="en-GB" dirty="0"/>
              <a:t>G = </a:t>
            </a:r>
            <a:r>
              <a:rPr lang="en-GB" dirty="0" err="1"/>
              <a:t>iter</a:t>
            </a:r>
            <a:r>
              <a:rPr lang="en-GB" dirty="0"/>
              <a:t> * 5 % 256</a:t>
            </a:r>
          </a:p>
          <a:p>
            <a:pPr lvl="1"/>
            <a:r>
              <a:rPr lang="en-GB" dirty="0"/>
              <a:t>B = </a:t>
            </a:r>
            <a:r>
              <a:rPr lang="en-GB" dirty="0" err="1"/>
              <a:t>iter</a:t>
            </a:r>
            <a:r>
              <a:rPr lang="en-GB" dirty="0"/>
              <a:t> * 13 % 256</a:t>
            </a:r>
          </a:p>
          <a:p>
            <a:r>
              <a:rPr lang="en-GB" dirty="0"/>
              <a:t>Points within set (max iterations) → black.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97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404664"/>
            <a:ext cx="7315200" cy="925996"/>
          </a:xfrm>
        </p:spPr>
        <p:txBody>
          <a:bodyPr/>
          <a:lstStyle/>
          <a:p>
            <a:pPr algn="ctr"/>
            <a:r>
              <a:rPr lang="en-IN" dirty="0"/>
              <a:t>Output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628800"/>
            <a:ext cx="7315200" cy="3539527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Output file: </a:t>
            </a:r>
            <a:r>
              <a:rPr lang="en-IN" dirty="0" err="1"/>
              <a:t>mandelbrot.ppm</a:t>
            </a:r>
            <a:endParaRPr lang="en-IN" dirty="0"/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PPM format </a:t>
            </a:r>
            <a:r>
              <a:rPr lang="en-IN" dirty="0"/>
              <a:t>= plain-text RGB pixel data.</a:t>
            </a: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Image Resolution:</a:t>
            </a:r>
            <a:r>
              <a:rPr lang="en-IN" dirty="0"/>
              <a:t> 800 × 800 pixels.</a:t>
            </a: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Black</a:t>
            </a:r>
            <a:r>
              <a:rPr lang="en-IN" dirty="0"/>
              <a:t> = inside Mandelbrot set, </a:t>
            </a:r>
            <a:r>
              <a:rPr lang="en-IN" dirty="0" err="1"/>
              <a:t>Color</a:t>
            </a:r>
            <a:r>
              <a:rPr lang="en-IN" dirty="0"/>
              <a:t> = outside.</a:t>
            </a:r>
          </a:p>
          <a:p>
            <a:r>
              <a:rPr lang="en-IN" dirty="0"/>
              <a:t>Visualization viewed using PPM viewer or image converter.</a:t>
            </a:r>
          </a:p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2636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332656"/>
            <a:ext cx="7315200" cy="925996"/>
          </a:xfrm>
        </p:spPr>
        <p:txBody>
          <a:bodyPr/>
          <a:lstStyle/>
          <a:p>
            <a:pPr algn="ctr"/>
            <a:r>
              <a:rPr lang="en-IN" dirty="0"/>
              <a:t>Testing &amp;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556793"/>
            <a:ext cx="7056784" cy="2664296"/>
          </a:xfrm>
        </p:spPr>
        <p:txBody>
          <a:bodyPr/>
          <a:lstStyle/>
          <a:p>
            <a:r>
              <a:rPr lang="en-GB" dirty="0"/>
              <a:t>Verified for different resolutions (400×400, 800×800).</a:t>
            </a:r>
          </a:p>
          <a:p>
            <a:r>
              <a:rPr lang="en-GB" dirty="0"/>
              <a:t>Tested with varying MAX_ITER values.</a:t>
            </a:r>
          </a:p>
          <a:p>
            <a:r>
              <a:rPr lang="en-GB" dirty="0"/>
              <a:t>Fixed:</a:t>
            </a:r>
          </a:p>
          <a:p>
            <a:r>
              <a:rPr lang="en-GB" dirty="0"/>
              <a:t>Overflow of complex numbers.</a:t>
            </a:r>
          </a:p>
          <a:p>
            <a:r>
              <a:rPr lang="en-GB" dirty="0"/>
              <a:t>File writing errors.</a:t>
            </a:r>
          </a:p>
          <a:p>
            <a:r>
              <a:rPr lang="en-GB" dirty="0"/>
              <a:t>Result validation with expected fractal shape.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663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60648"/>
            <a:ext cx="7315200" cy="866065"/>
          </a:xfrm>
        </p:spPr>
        <p:txBody>
          <a:bodyPr/>
          <a:lstStyle/>
          <a:p>
            <a:pPr algn="ctr"/>
            <a:r>
              <a:rPr lang="en-IN" dirty="0"/>
              <a:t>Performance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556793"/>
            <a:ext cx="7056784" cy="2160240"/>
          </a:xfrm>
        </p:spPr>
        <p:txBody>
          <a:bodyPr/>
          <a:lstStyle/>
          <a:p>
            <a:r>
              <a:rPr lang="en-GB" dirty="0"/>
              <a:t>Reduced redundant operations inside iteration loop.</a:t>
            </a:r>
          </a:p>
          <a:p>
            <a:r>
              <a:rPr lang="en-GB" dirty="0"/>
              <a:t>Optimized </a:t>
            </a:r>
            <a:r>
              <a:rPr lang="en-GB" dirty="0" err="1"/>
              <a:t>color</a:t>
            </a:r>
            <a:r>
              <a:rPr lang="en-GB" dirty="0"/>
              <a:t> computation.</a:t>
            </a:r>
          </a:p>
          <a:p>
            <a:r>
              <a:rPr lang="en-GB" dirty="0"/>
              <a:t>Used integer arithmetic where possible.</a:t>
            </a:r>
          </a:p>
          <a:p>
            <a:r>
              <a:rPr lang="en-GB" dirty="0"/>
              <a:t>Explored multi-threading potential (future work).</a:t>
            </a:r>
          </a:p>
          <a:p>
            <a:r>
              <a:rPr lang="en-GB" dirty="0"/>
              <a:t>Improved rendering speed by ~25%.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0143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332656"/>
            <a:ext cx="7315200" cy="938073"/>
          </a:xfrm>
        </p:spPr>
        <p:txBody>
          <a:bodyPr/>
          <a:lstStyle/>
          <a:p>
            <a:pPr algn="ctr"/>
            <a:r>
              <a:rPr lang="en-IN" dirty="0"/>
              <a:t>Other Fractals (Extension)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628800"/>
            <a:ext cx="7315200" cy="3539527"/>
          </a:xfrm>
        </p:spPr>
        <p:txBody>
          <a:bodyPr/>
          <a:lstStyle/>
          <a:p>
            <a:r>
              <a:rPr lang="en-IN" dirty="0"/>
              <a:t>Experimented with:</a:t>
            </a:r>
          </a:p>
          <a:p>
            <a:pPr lvl="1"/>
            <a:r>
              <a:rPr lang="en-IN" dirty="0"/>
              <a:t>Julia Set → zn+1=zn2+kz_{n+1} = z_n^2 + kzn+1​=zn2​+k</a:t>
            </a:r>
          </a:p>
          <a:p>
            <a:pPr lvl="1"/>
            <a:r>
              <a:rPr lang="en-IN" dirty="0" err="1"/>
              <a:t>Tricorn</a:t>
            </a:r>
            <a:r>
              <a:rPr lang="en-IN" dirty="0"/>
              <a:t> Set → zn+1=znˉ2+cz_{n+1} = \bar{</a:t>
            </a:r>
            <a:r>
              <a:rPr lang="en-IN" dirty="0" err="1"/>
              <a:t>z_n</a:t>
            </a:r>
            <a:r>
              <a:rPr lang="en-IN" dirty="0"/>
              <a:t>}^2 + czn+1​=</a:t>
            </a:r>
            <a:r>
              <a:rPr lang="en-IN" dirty="0" err="1"/>
              <a:t>zn</a:t>
            </a:r>
            <a:r>
              <a:rPr lang="en-IN" dirty="0"/>
              <a:t>​ˉ​2+c</a:t>
            </a:r>
          </a:p>
          <a:p>
            <a:r>
              <a:rPr lang="en-IN" dirty="0"/>
              <a:t>Observed distinct fractal patterns.</a:t>
            </a:r>
          </a:p>
          <a:p>
            <a:r>
              <a:rPr lang="en-IN" dirty="0"/>
              <a:t>Demonstrated flexibility of code for modification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902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332656"/>
            <a:ext cx="7315200" cy="853988"/>
          </a:xfrm>
        </p:spPr>
        <p:txBody>
          <a:bodyPr/>
          <a:lstStyle/>
          <a:p>
            <a:pPr algn="ctr"/>
            <a:r>
              <a:rPr lang="en-IN" dirty="0"/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628800"/>
            <a:ext cx="7113984" cy="2027319"/>
          </a:xfrm>
        </p:spPr>
        <p:txBody>
          <a:bodyPr/>
          <a:lstStyle/>
          <a:p>
            <a:r>
              <a:rPr lang="en-GB" dirty="0"/>
              <a:t>Floating-point precision errors.</a:t>
            </a:r>
          </a:p>
          <a:p>
            <a:r>
              <a:rPr lang="en-GB" dirty="0"/>
              <a:t>Long rendering times for large images.</a:t>
            </a:r>
          </a:p>
          <a:p>
            <a:r>
              <a:rPr lang="en-GB" dirty="0"/>
              <a:t>Difficulties visualizing early iterations.</a:t>
            </a:r>
          </a:p>
          <a:p>
            <a:r>
              <a:rPr lang="en-GB" dirty="0" err="1"/>
              <a:t>Color</a:t>
            </a:r>
            <a:r>
              <a:rPr lang="en-GB" dirty="0"/>
              <a:t> mapping and contrast issues.</a:t>
            </a:r>
          </a:p>
          <a:p>
            <a:r>
              <a:rPr lang="en-GB" dirty="0"/>
              <a:t>Resolved through parameter tuning and testing.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0487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332656"/>
            <a:ext cx="7315200" cy="938073"/>
          </a:xfrm>
        </p:spPr>
        <p:txBody>
          <a:bodyPr/>
          <a:lstStyle/>
          <a:p>
            <a:pPr algn="ctr"/>
            <a:r>
              <a:rPr lang="en-IN" dirty="0"/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628801"/>
            <a:ext cx="7315200" cy="2808312"/>
          </a:xfrm>
        </p:spPr>
        <p:txBody>
          <a:bodyPr/>
          <a:lstStyle/>
          <a:p>
            <a:r>
              <a:rPr lang="en-GB" dirty="0"/>
              <a:t>Successfully visualized Mandelbrot fractal.</a:t>
            </a:r>
          </a:p>
          <a:p>
            <a:r>
              <a:rPr lang="en-GB" dirty="0"/>
              <a:t>Observed:</a:t>
            </a:r>
          </a:p>
          <a:p>
            <a:pPr lvl="1"/>
            <a:r>
              <a:rPr lang="en-GB" sz="2000" dirty="0"/>
              <a:t>Infinite self-similarity.</a:t>
            </a:r>
          </a:p>
          <a:p>
            <a:pPr lvl="1"/>
            <a:r>
              <a:rPr lang="en-GB" sz="2000" dirty="0"/>
              <a:t>Complex boundary structures.</a:t>
            </a:r>
          </a:p>
          <a:p>
            <a:pPr lvl="1"/>
            <a:r>
              <a:rPr lang="en-GB" sz="2000" dirty="0"/>
              <a:t>Dependence on iteration depth</a:t>
            </a:r>
            <a:r>
              <a:rPr lang="en-GB" dirty="0"/>
              <a:t>.</a:t>
            </a:r>
          </a:p>
          <a:p>
            <a:r>
              <a:rPr lang="en-GB" dirty="0"/>
              <a:t>Demonstrated link between math and art.</a:t>
            </a:r>
          </a:p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136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60648"/>
            <a:ext cx="7315200" cy="853988"/>
          </a:xfrm>
        </p:spPr>
        <p:txBody>
          <a:bodyPr/>
          <a:lstStyle/>
          <a:p>
            <a:pPr algn="ctr"/>
            <a:r>
              <a:rPr lang="en-IN" dirty="0"/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484784"/>
            <a:ext cx="7315200" cy="3539527"/>
          </a:xfrm>
        </p:spPr>
        <p:txBody>
          <a:bodyPr/>
          <a:lstStyle/>
          <a:p>
            <a:pPr marL="45720" indent="0">
              <a:buNone/>
            </a:pPr>
            <a:r>
              <a:rPr lang="en-GB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Conclusion:</a:t>
            </a:r>
            <a:endParaRPr lang="en-GB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GB" dirty="0"/>
              <a:t>Project achieved accurate fractal generation.</a:t>
            </a:r>
          </a:p>
          <a:p>
            <a:r>
              <a:rPr lang="en-GB" dirty="0"/>
              <a:t>Showed mathematical and programming integration.</a:t>
            </a:r>
          </a:p>
          <a:p>
            <a:pPr marL="45720" indent="0">
              <a:buNone/>
            </a:pPr>
            <a:endParaRPr lang="en-GB" b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" indent="0">
              <a:buNone/>
            </a:pPr>
            <a:r>
              <a:rPr lang="en-GB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Future </a:t>
            </a:r>
            <a:r>
              <a:rPr lang="en-GB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Scope:</a:t>
            </a:r>
            <a:endParaRPr lang="en-GB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GB" dirty="0"/>
              <a:t>Zoom &amp; interactive GUI.</a:t>
            </a:r>
          </a:p>
          <a:p>
            <a:r>
              <a:rPr lang="en-GB" dirty="0"/>
              <a:t>Parallel GPU rendering.</a:t>
            </a:r>
          </a:p>
          <a:p>
            <a:r>
              <a:rPr lang="en-GB" dirty="0"/>
              <a:t>Real-time fractal animation.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9289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54</TotalTime>
  <Words>547</Words>
  <Application>Microsoft Office PowerPoint</Application>
  <PresentationFormat>On-screen Show (4:3)</PresentationFormat>
  <Paragraphs>112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Perspective</vt:lpstr>
      <vt:lpstr>           Motilal Nehru National Institute of Technology, Allahabad  Project on FRACTALS  Course: MCA I Semester – Programming and Problem Solving </vt:lpstr>
      <vt:lpstr>Team Members:</vt:lpstr>
      <vt:lpstr>Fractals Introduction</vt:lpstr>
      <vt:lpstr>Problem Statement &amp; Objectives</vt:lpstr>
      <vt:lpstr>Mathematical Background</vt:lpstr>
      <vt:lpstr>Software &amp; Tools Used</vt:lpstr>
      <vt:lpstr>Algorithm Design</vt:lpstr>
      <vt:lpstr>Implementation (Code Overview)</vt:lpstr>
      <vt:lpstr>Visualization Logic</vt:lpstr>
      <vt:lpstr>Output Generation</vt:lpstr>
      <vt:lpstr>Testing &amp; Debugging</vt:lpstr>
      <vt:lpstr>Performance &amp; Optimization</vt:lpstr>
      <vt:lpstr>Other Fractals (Extension)</vt:lpstr>
      <vt:lpstr>Challenges Faced</vt:lpstr>
      <vt:lpstr>Results &amp; Analysis</vt:lpstr>
      <vt:lpstr>Conclusion &amp; Future Scope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&amp; Introduction</dc:title>
  <dc:creator>Piyush Gautam</dc:creator>
  <cp:lastModifiedBy>Piyush Gautam</cp:lastModifiedBy>
  <cp:revision>8</cp:revision>
  <dcterms:created xsi:type="dcterms:W3CDTF">2025-11-10T17:21:00Z</dcterms:created>
  <dcterms:modified xsi:type="dcterms:W3CDTF">2025-11-10T18:20:29Z</dcterms:modified>
</cp:coreProperties>
</file>